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1" r:id="rId5"/>
    <p:sldId id="262" r:id="rId6"/>
    <p:sldId id="263" r:id="rId7"/>
    <p:sldId id="265" r:id="rId8"/>
    <p:sldId id="267" r:id="rId9"/>
    <p:sldId id="268" r:id="rId10"/>
    <p:sldId id="269" r:id="rId1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>
        <p:scale>
          <a:sx n="100" d="100"/>
          <a:sy n="100" d="100"/>
        </p:scale>
        <p:origin x="300" y="-16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marL="0" lvl="0" indent="0">
              <a:buNone/>
            </a:pPr>
            <a:r>
              <a:t>Môi Trường Sống và Sức Khỏe Hộ Gia Đình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marL="0" lvl="0" indent="0">
              <a:buNone/>
            </a:pPr>
            <a:r>
              <a:t>Nhóm 5</a:t>
            </a:r>
            <a:br/>
            <a:br/>
            <a:r>
              <a:t>Phân tích dữ liệu MICS 2000-2021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lvl="0" indent="0">
              <a:buNone/>
            </a:pPr>
            <a:r>
              <a:t>2025-10-19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Thông tin nghiên cứu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4114800" cy="3394472"/>
          </a:xfrm>
        </p:spPr>
        <p:txBody>
          <a:bodyPr>
            <a:normAutofit fontScale="70000" lnSpcReduction="20000"/>
          </a:bodyPr>
          <a:lstStyle/>
          <a:p>
            <a:pPr marL="0" lvl="0" indent="0">
              <a:buNone/>
            </a:pPr>
            <a:r>
              <a:rPr b="1" dirty="0" err="1"/>
              <a:t>Chủ</a:t>
            </a:r>
            <a:r>
              <a:rPr b="1" dirty="0"/>
              <a:t> </a:t>
            </a:r>
            <a:r>
              <a:rPr b="1" dirty="0" err="1"/>
              <a:t>đề</a:t>
            </a:r>
            <a:r>
              <a:rPr b="1" dirty="0"/>
              <a:t>:</a:t>
            </a:r>
            <a:r>
              <a:rPr dirty="0"/>
              <a:t> </a:t>
            </a:r>
            <a:r>
              <a:rPr dirty="0" err="1"/>
              <a:t>Mối</a:t>
            </a:r>
            <a:r>
              <a:rPr dirty="0"/>
              <a:t> </a:t>
            </a:r>
            <a:r>
              <a:rPr dirty="0" err="1"/>
              <a:t>liên</a:t>
            </a:r>
            <a:r>
              <a:rPr dirty="0"/>
              <a:t> </a:t>
            </a:r>
            <a:r>
              <a:rPr dirty="0" err="1"/>
              <a:t>quan</a:t>
            </a:r>
            <a:r>
              <a:rPr dirty="0"/>
              <a:t> </a:t>
            </a:r>
            <a:r>
              <a:rPr dirty="0" err="1"/>
              <a:t>giữa</a:t>
            </a:r>
            <a:r>
              <a:rPr dirty="0"/>
              <a:t> </a:t>
            </a:r>
            <a:r>
              <a:rPr dirty="0" err="1"/>
              <a:t>điều</a:t>
            </a:r>
            <a:r>
              <a:rPr dirty="0"/>
              <a:t> </a:t>
            </a:r>
            <a:r>
              <a:rPr dirty="0" err="1"/>
              <a:t>kiện</a:t>
            </a:r>
            <a:r>
              <a:rPr dirty="0"/>
              <a:t> </a:t>
            </a:r>
            <a:r>
              <a:rPr dirty="0" err="1"/>
              <a:t>vệ</a:t>
            </a:r>
            <a:r>
              <a:rPr dirty="0"/>
              <a:t> </a:t>
            </a:r>
            <a:r>
              <a:rPr dirty="0" err="1"/>
              <a:t>sinh</a:t>
            </a:r>
            <a:r>
              <a:rPr dirty="0"/>
              <a:t>, </a:t>
            </a:r>
            <a:r>
              <a:rPr dirty="0" err="1"/>
              <a:t>nguồn</a:t>
            </a:r>
            <a:r>
              <a:rPr dirty="0"/>
              <a:t> </a:t>
            </a:r>
            <a:r>
              <a:rPr dirty="0" err="1"/>
              <a:t>nước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sức</a:t>
            </a:r>
            <a:r>
              <a:rPr dirty="0"/>
              <a:t> </a:t>
            </a:r>
            <a:r>
              <a:rPr dirty="0" err="1"/>
              <a:t>khỏe</a:t>
            </a:r>
            <a:r>
              <a:rPr dirty="0"/>
              <a:t> </a:t>
            </a:r>
            <a:r>
              <a:rPr dirty="0" err="1"/>
              <a:t>hộ</a:t>
            </a:r>
            <a:r>
              <a:rPr dirty="0"/>
              <a:t> </a:t>
            </a:r>
            <a:r>
              <a:rPr dirty="0" err="1"/>
              <a:t>gia</a:t>
            </a:r>
            <a:r>
              <a:rPr dirty="0"/>
              <a:t> </a:t>
            </a:r>
            <a:r>
              <a:rPr dirty="0" err="1"/>
              <a:t>đình</a:t>
            </a:r>
            <a:endParaRPr dirty="0"/>
          </a:p>
          <a:p>
            <a:pPr marL="0" lvl="0" indent="0">
              <a:buNone/>
            </a:pPr>
            <a:r>
              <a:rPr b="1" dirty="0" err="1"/>
              <a:t>Câu</a:t>
            </a:r>
            <a:r>
              <a:rPr b="1" dirty="0"/>
              <a:t> </a:t>
            </a:r>
            <a:r>
              <a:rPr b="1" dirty="0" err="1"/>
              <a:t>hỏi</a:t>
            </a:r>
            <a:r>
              <a:rPr b="1" dirty="0"/>
              <a:t> </a:t>
            </a:r>
            <a:r>
              <a:rPr b="1" dirty="0" err="1"/>
              <a:t>nghiên</a:t>
            </a:r>
            <a:r>
              <a:rPr b="1" dirty="0"/>
              <a:t> </a:t>
            </a:r>
            <a:r>
              <a:rPr b="1" dirty="0" err="1"/>
              <a:t>cứu</a:t>
            </a:r>
            <a:r>
              <a:rPr b="1" dirty="0"/>
              <a:t>:</a:t>
            </a:r>
          </a:p>
          <a:p>
            <a:pPr lvl="0"/>
            <a:r>
              <a:rPr dirty="0" err="1"/>
              <a:t>Tỷ</a:t>
            </a:r>
            <a:r>
              <a:rPr dirty="0"/>
              <a:t> </a:t>
            </a:r>
            <a:r>
              <a:rPr dirty="0" err="1"/>
              <a:t>lệ</a:t>
            </a:r>
            <a:r>
              <a:rPr dirty="0"/>
              <a:t> </a:t>
            </a:r>
            <a:r>
              <a:rPr dirty="0" err="1"/>
              <a:t>hộ</a:t>
            </a:r>
            <a:r>
              <a:rPr dirty="0"/>
              <a:t> </a:t>
            </a:r>
            <a:r>
              <a:rPr dirty="0" err="1"/>
              <a:t>tiếp</a:t>
            </a:r>
            <a:r>
              <a:rPr dirty="0"/>
              <a:t> </a:t>
            </a:r>
            <a:r>
              <a:rPr dirty="0" err="1"/>
              <a:t>cận</a:t>
            </a:r>
            <a:r>
              <a:rPr dirty="0"/>
              <a:t> </a:t>
            </a:r>
            <a:r>
              <a:rPr dirty="0" err="1"/>
              <a:t>nước</a:t>
            </a:r>
            <a:r>
              <a:rPr dirty="0"/>
              <a:t> </a:t>
            </a:r>
            <a:r>
              <a:rPr dirty="0" err="1"/>
              <a:t>sạch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nhà</a:t>
            </a:r>
            <a:r>
              <a:rPr dirty="0"/>
              <a:t> </a:t>
            </a:r>
            <a:r>
              <a:rPr dirty="0" err="1"/>
              <a:t>tiêu</a:t>
            </a:r>
            <a:r>
              <a:rPr dirty="0"/>
              <a:t> </a:t>
            </a:r>
            <a:r>
              <a:rPr dirty="0" err="1"/>
              <a:t>hợp</a:t>
            </a:r>
            <a:r>
              <a:rPr dirty="0"/>
              <a:t> </a:t>
            </a:r>
            <a:r>
              <a:rPr dirty="0" err="1"/>
              <a:t>vệ</a:t>
            </a:r>
            <a:r>
              <a:rPr dirty="0"/>
              <a:t> </a:t>
            </a:r>
            <a:r>
              <a:rPr dirty="0" err="1"/>
              <a:t>sinh</a:t>
            </a:r>
            <a:endParaRPr dirty="0"/>
          </a:p>
          <a:p>
            <a:pPr lvl="0"/>
            <a:r>
              <a:rPr dirty="0" err="1"/>
              <a:t>Mối</a:t>
            </a:r>
            <a:r>
              <a:rPr dirty="0"/>
              <a:t> </a:t>
            </a:r>
            <a:r>
              <a:rPr dirty="0" err="1"/>
              <a:t>liên</a:t>
            </a:r>
            <a:r>
              <a:rPr dirty="0"/>
              <a:t> </a:t>
            </a:r>
            <a:r>
              <a:rPr dirty="0" err="1"/>
              <a:t>hệ</a:t>
            </a:r>
            <a:r>
              <a:rPr dirty="0"/>
              <a:t> </a:t>
            </a:r>
            <a:r>
              <a:rPr dirty="0" err="1"/>
              <a:t>giữa</a:t>
            </a:r>
            <a:r>
              <a:rPr dirty="0"/>
              <a:t> </a:t>
            </a:r>
            <a:r>
              <a:rPr dirty="0" err="1"/>
              <a:t>nguồn</a:t>
            </a:r>
            <a:r>
              <a:rPr dirty="0"/>
              <a:t> </a:t>
            </a:r>
            <a:r>
              <a:rPr dirty="0" err="1"/>
              <a:t>nước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bệnh</a:t>
            </a:r>
            <a:r>
              <a:rPr dirty="0"/>
              <a:t> </a:t>
            </a:r>
            <a:r>
              <a:rPr dirty="0" err="1"/>
              <a:t>tiêu</a:t>
            </a:r>
            <a:r>
              <a:rPr dirty="0"/>
              <a:t> </a:t>
            </a:r>
            <a:r>
              <a:rPr dirty="0" err="1"/>
              <a:t>chảy</a:t>
            </a:r>
            <a:r>
              <a:rPr dirty="0"/>
              <a:t> ở </a:t>
            </a:r>
            <a:r>
              <a:rPr dirty="0" err="1"/>
              <a:t>trẻ</a:t>
            </a:r>
            <a:endParaRPr dirty="0"/>
          </a:p>
          <a:p>
            <a:pPr lvl="0"/>
            <a:r>
              <a:rPr dirty="0" err="1"/>
              <a:t>Yếu</a:t>
            </a:r>
            <a:r>
              <a:rPr dirty="0"/>
              <a:t> </a:t>
            </a:r>
            <a:r>
              <a:rPr dirty="0" err="1"/>
              <a:t>tố</a:t>
            </a:r>
            <a:r>
              <a:rPr dirty="0"/>
              <a:t> </a:t>
            </a:r>
            <a:r>
              <a:rPr dirty="0" err="1"/>
              <a:t>dự</a:t>
            </a:r>
            <a:r>
              <a:rPr dirty="0"/>
              <a:t> </a:t>
            </a:r>
            <a:r>
              <a:rPr dirty="0" err="1"/>
              <a:t>đoán</a:t>
            </a:r>
            <a:r>
              <a:rPr dirty="0"/>
              <a:t> </a:t>
            </a:r>
            <a:r>
              <a:rPr dirty="0" err="1"/>
              <a:t>khả</a:t>
            </a:r>
            <a:r>
              <a:rPr dirty="0"/>
              <a:t> </a:t>
            </a:r>
            <a:r>
              <a:rPr dirty="0" err="1"/>
              <a:t>năng</a:t>
            </a:r>
            <a:r>
              <a:rPr dirty="0"/>
              <a:t> </a:t>
            </a:r>
            <a:r>
              <a:rPr dirty="0" err="1"/>
              <a:t>có</a:t>
            </a:r>
            <a:r>
              <a:rPr dirty="0"/>
              <a:t> </a:t>
            </a:r>
            <a:r>
              <a:rPr dirty="0" err="1"/>
              <a:t>nhà</a:t>
            </a:r>
            <a:r>
              <a:rPr dirty="0"/>
              <a:t> </a:t>
            </a:r>
            <a:r>
              <a:rPr dirty="0" err="1"/>
              <a:t>tiêu</a:t>
            </a:r>
            <a:r>
              <a:rPr dirty="0"/>
              <a:t> </a:t>
            </a:r>
            <a:r>
              <a:rPr dirty="0" err="1"/>
              <a:t>hợp</a:t>
            </a:r>
            <a:r>
              <a:rPr dirty="0"/>
              <a:t> </a:t>
            </a:r>
            <a:r>
              <a:rPr dirty="0" err="1"/>
              <a:t>vệ</a:t>
            </a:r>
            <a:r>
              <a:rPr dirty="0"/>
              <a:t> </a:t>
            </a:r>
            <a:r>
              <a:rPr dirty="0" err="1"/>
              <a:t>sinh</a:t>
            </a:r>
            <a:endParaRPr dirty="0"/>
          </a:p>
          <a:p>
            <a:pPr lvl="0"/>
            <a:r>
              <a:rPr dirty="0"/>
              <a:t>Xu </a:t>
            </a:r>
            <a:r>
              <a:rPr dirty="0" err="1"/>
              <a:t>hướng</a:t>
            </a:r>
            <a:r>
              <a:rPr dirty="0"/>
              <a:t> </a:t>
            </a:r>
            <a:r>
              <a:rPr dirty="0" err="1"/>
              <a:t>thay</a:t>
            </a:r>
            <a:r>
              <a:rPr dirty="0"/>
              <a:t> </a:t>
            </a:r>
            <a:r>
              <a:rPr dirty="0" err="1"/>
              <a:t>đổi</a:t>
            </a:r>
            <a:r>
              <a:rPr dirty="0"/>
              <a:t> 2000-2021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dự</a:t>
            </a:r>
            <a:r>
              <a:rPr dirty="0"/>
              <a:t> </a:t>
            </a:r>
            <a:r>
              <a:rPr dirty="0" err="1"/>
              <a:t>báo</a:t>
            </a:r>
            <a:r>
              <a:rPr dirty="0"/>
              <a:t> </a:t>
            </a:r>
            <a:r>
              <a:rPr dirty="0" err="1"/>
              <a:t>đến</a:t>
            </a:r>
            <a:r>
              <a:rPr dirty="0"/>
              <a:t> 2030</a:t>
            </a:r>
          </a:p>
          <a:p>
            <a:pPr marL="0" lvl="0" indent="0">
              <a:buNone/>
            </a:pPr>
            <a:r>
              <a:rPr b="1" dirty="0" err="1"/>
              <a:t>Nguồn</a:t>
            </a:r>
            <a:r>
              <a:rPr b="1" dirty="0"/>
              <a:t> </a:t>
            </a:r>
            <a:r>
              <a:rPr b="1" dirty="0" err="1"/>
              <a:t>dữ</a:t>
            </a:r>
            <a:r>
              <a:rPr b="1" dirty="0"/>
              <a:t> </a:t>
            </a:r>
            <a:r>
              <a:rPr b="1" dirty="0" err="1"/>
              <a:t>liệu</a:t>
            </a:r>
            <a:r>
              <a:rPr b="1" dirty="0"/>
              <a:t>:</a:t>
            </a:r>
            <a:r>
              <a:rPr dirty="0"/>
              <a:t> MICS 2000-2021, UNICEF Việt Nam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572000" y="1200151"/>
            <a:ext cx="41148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14500" indent="-34290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003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432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861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vi-VN" sz="1700" b="1" dirty="0"/>
              <a:t>Biến phụ thuộc:</a:t>
            </a:r>
          </a:p>
          <a:p>
            <a:r>
              <a:rPr lang="vi-VN" sz="1700" dirty="0">
                <a:latin typeface="Courier"/>
              </a:rPr>
              <a:t>WS11</a:t>
            </a:r>
            <a:r>
              <a:rPr lang="vi-VN" sz="1700" dirty="0"/>
              <a:t>: Loại nhà vệ sinh của hộ</a:t>
            </a:r>
          </a:p>
          <a:p>
            <a:r>
              <a:rPr lang="vi-VN" sz="1700" dirty="0">
                <a:latin typeface="Courier"/>
              </a:rPr>
              <a:t>WS1</a:t>
            </a:r>
            <a:r>
              <a:rPr lang="vi-VN" sz="1700" dirty="0"/>
              <a:t>: Nguồn nước uống chính</a:t>
            </a:r>
          </a:p>
          <a:p>
            <a:r>
              <a:rPr lang="vi-VN" sz="1700" dirty="0">
                <a:latin typeface="Courier"/>
              </a:rPr>
              <a:t>CA1</a:t>
            </a:r>
            <a:r>
              <a:rPr lang="vi-VN" sz="1700" dirty="0"/>
              <a:t>: Trẻ có bị tiêu chảy không</a:t>
            </a:r>
          </a:p>
          <a:p>
            <a:pPr marL="0" indent="0">
              <a:buFont typeface="Arial"/>
              <a:buNone/>
            </a:pPr>
            <a:r>
              <a:rPr lang="vi-VN" sz="1700" b="1" dirty="0"/>
              <a:t>Biến độc lập:</a:t>
            </a:r>
          </a:p>
          <a:p>
            <a:r>
              <a:rPr lang="vi-VN" sz="1700" dirty="0">
                <a:latin typeface="Courier"/>
              </a:rPr>
              <a:t>HH6</a:t>
            </a:r>
            <a:r>
              <a:rPr lang="vi-VN" sz="1700" dirty="0"/>
              <a:t>: Khu vực sinh sống (thành thị/nông thôn)</a:t>
            </a:r>
          </a:p>
          <a:p>
            <a:r>
              <a:rPr lang="vi-VN" sz="1700" dirty="0">
                <a:latin typeface="Courier"/>
              </a:rPr>
              <a:t>windex5</a:t>
            </a:r>
            <a:r>
              <a:rPr lang="vi-VN" sz="1700" dirty="0"/>
              <a:t>: Mức sống kinh tế</a:t>
            </a:r>
          </a:p>
          <a:p>
            <a:r>
              <a:rPr lang="vi-VN" sz="1700" dirty="0">
                <a:latin typeface="Courier"/>
              </a:rPr>
              <a:t>helevel</a:t>
            </a:r>
            <a:r>
              <a:rPr lang="vi-VN" sz="1700" dirty="0"/>
              <a:t>: Trình độ học vấn chủ hộ</a:t>
            </a:r>
          </a:p>
          <a:p>
            <a:r>
              <a:rPr lang="vi-VN" sz="1700" dirty="0">
                <a:latin typeface="Courier"/>
              </a:rPr>
              <a:t>HC2</a:t>
            </a:r>
            <a:r>
              <a:rPr lang="vi-VN" sz="1700" dirty="0"/>
              <a:t>: Dân tộc chủ hộ</a:t>
            </a:r>
            <a:endParaRPr lang="en-US" sz="1700" dirty="0"/>
          </a:p>
          <a:p>
            <a:r>
              <a:rPr lang="vi-VN" sz="1700" dirty="0">
                <a:latin typeface="Courier"/>
              </a:rPr>
              <a:t>H</a:t>
            </a:r>
            <a:r>
              <a:rPr lang="en-US" sz="1700" dirty="0">
                <a:latin typeface="Courier"/>
              </a:rPr>
              <a:t>H5Y</a:t>
            </a:r>
            <a:r>
              <a:rPr lang="vi-VN" sz="1700" dirty="0"/>
              <a:t>: </a:t>
            </a:r>
            <a:r>
              <a:rPr lang="en-US" sz="1700" dirty="0" err="1">
                <a:latin typeface="Arial (Body)"/>
              </a:rPr>
              <a:t>Năm</a:t>
            </a:r>
            <a:r>
              <a:rPr lang="en-US" sz="1700" dirty="0">
                <a:latin typeface="Arial (Body)"/>
              </a:rPr>
              <a:t> </a:t>
            </a:r>
            <a:r>
              <a:rPr lang="en-US" sz="1700" dirty="0" err="1">
                <a:latin typeface="Arial (Body)"/>
              </a:rPr>
              <a:t>tiến</a:t>
            </a:r>
            <a:r>
              <a:rPr lang="en-US" sz="1700" dirty="0">
                <a:latin typeface="Arial (Body)"/>
              </a:rPr>
              <a:t> </a:t>
            </a:r>
            <a:r>
              <a:rPr lang="en-US" sz="1700" dirty="0" err="1">
                <a:latin typeface="Arial (Body)"/>
              </a:rPr>
              <a:t>hành</a:t>
            </a:r>
            <a:r>
              <a:rPr lang="en-US" sz="1700" dirty="0">
                <a:latin typeface="Arial (Body)"/>
              </a:rPr>
              <a:t> </a:t>
            </a:r>
            <a:r>
              <a:rPr lang="en-US" sz="1700" dirty="0" err="1">
                <a:latin typeface="Arial (Body)"/>
              </a:rPr>
              <a:t>nghiên</a:t>
            </a:r>
            <a:r>
              <a:rPr lang="en-US" sz="1700" dirty="0">
                <a:latin typeface="Arial (Body)"/>
              </a:rPr>
              <a:t> </a:t>
            </a:r>
            <a:r>
              <a:rPr lang="en-US" sz="1700" dirty="0" err="1">
                <a:latin typeface="Arial (Body)"/>
              </a:rPr>
              <a:t>cứu</a:t>
            </a:r>
            <a:endParaRPr lang="vi-VN" sz="1700" dirty="0">
              <a:latin typeface="Arial (Body)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625294"/>
          </a:xfrm>
        </p:spPr>
        <p:txBody>
          <a:bodyPr/>
          <a:lstStyle/>
          <a:p>
            <a:pPr marL="0" lvl="0" indent="0">
              <a:buNone/>
            </a:pPr>
            <a:r>
              <a:rPr dirty="0" err="1"/>
              <a:t>Tỷ</a:t>
            </a:r>
            <a:r>
              <a:rPr dirty="0"/>
              <a:t> </a:t>
            </a:r>
            <a:r>
              <a:rPr dirty="0" err="1"/>
              <a:t>lệ</a:t>
            </a:r>
            <a:r>
              <a:rPr dirty="0"/>
              <a:t> </a:t>
            </a:r>
            <a:r>
              <a:rPr dirty="0" err="1"/>
              <a:t>dữ</a:t>
            </a:r>
            <a:r>
              <a:rPr dirty="0"/>
              <a:t> </a:t>
            </a:r>
            <a:r>
              <a:rPr dirty="0" err="1"/>
              <a:t>liệu</a:t>
            </a:r>
            <a:r>
              <a:rPr dirty="0"/>
              <a:t> </a:t>
            </a:r>
            <a:r>
              <a:rPr dirty="0" err="1"/>
              <a:t>thiếu</a:t>
            </a:r>
            <a:endParaRPr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0438015"/>
              </p:ext>
            </p:extLst>
          </p:nvPr>
        </p:nvGraphicFramePr>
        <p:xfrm>
          <a:off x="457200" y="788670"/>
          <a:ext cx="82296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dirty="0" err="1"/>
                        <a:t>Biến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Tỷ lệ thiếu (%)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HH1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HH2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HH6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WS1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WS11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helevel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HC2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windex5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dirty="0"/>
                        <a:t>windex5r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31.51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dirty="0"/>
                        <a:t>windex5u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68.49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HH5Y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dirty="0"/>
                        <a:t>0.00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5" name="Content Placeholder 2"/>
          <p:cNvSpPr txBox="1">
            <a:spLocks/>
          </p:cNvSpPr>
          <p:nvPr/>
        </p:nvSpPr>
        <p:spPr>
          <a:xfrm>
            <a:off x="457200" y="4377345"/>
            <a:ext cx="8229600" cy="822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14500" indent="-34290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003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432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861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1700" b="1" dirty="0" err="1"/>
              <a:t>Nhận</a:t>
            </a:r>
            <a:r>
              <a:rPr lang="en-US" sz="1700" b="1" dirty="0"/>
              <a:t> </a:t>
            </a:r>
            <a:r>
              <a:rPr lang="en-US" sz="1700" b="1" dirty="0" err="1"/>
              <a:t>xét</a:t>
            </a:r>
            <a:r>
              <a:rPr lang="en-US" sz="1700" b="1" dirty="0"/>
              <a:t>:</a:t>
            </a:r>
            <a:r>
              <a:rPr lang="en-US" sz="1700" dirty="0"/>
              <a:t> </a:t>
            </a:r>
            <a:r>
              <a:rPr lang="en-US" sz="1700" dirty="0">
                <a:latin typeface="Courier"/>
              </a:rPr>
              <a:t>windex5r</a:t>
            </a:r>
            <a:r>
              <a:rPr lang="en-US" sz="1700" dirty="0"/>
              <a:t> </a:t>
            </a:r>
            <a:r>
              <a:rPr lang="en-US" sz="1700" dirty="0" err="1"/>
              <a:t>và</a:t>
            </a:r>
            <a:r>
              <a:rPr lang="en-US" sz="1700" dirty="0"/>
              <a:t> </a:t>
            </a:r>
            <a:r>
              <a:rPr lang="en-US" sz="1700" dirty="0">
                <a:latin typeface="Courier"/>
              </a:rPr>
              <a:t>windex5u</a:t>
            </a:r>
            <a:r>
              <a:rPr lang="en-US" sz="1700" dirty="0"/>
              <a:t> </a:t>
            </a:r>
            <a:r>
              <a:rPr lang="en-US" sz="1700" dirty="0" err="1"/>
              <a:t>có</a:t>
            </a:r>
            <a:r>
              <a:rPr lang="en-US" sz="1700" dirty="0"/>
              <a:t> </a:t>
            </a:r>
            <a:r>
              <a:rPr lang="en-US" sz="1700" dirty="0" err="1"/>
              <a:t>tỷ</a:t>
            </a:r>
            <a:r>
              <a:rPr lang="en-US" sz="1700" dirty="0"/>
              <a:t> </a:t>
            </a:r>
            <a:r>
              <a:rPr lang="en-US" sz="1700" dirty="0" err="1"/>
              <a:t>lệ</a:t>
            </a:r>
            <a:r>
              <a:rPr lang="en-US" sz="1700" dirty="0"/>
              <a:t> </a:t>
            </a:r>
            <a:r>
              <a:rPr lang="en-US" sz="1700" dirty="0" err="1"/>
              <a:t>thiếu</a:t>
            </a:r>
            <a:r>
              <a:rPr lang="en-US" sz="1700" dirty="0"/>
              <a:t> </a:t>
            </a:r>
            <a:r>
              <a:rPr lang="en-US" sz="1700" dirty="0" err="1"/>
              <a:t>cao</a:t>
            </a:r>
            <a:r>
              <a:rPr lang="en-US" sz="1700" dirty="0"/>
              <a:t> do </a:t>
            </a:r>
            <a:r>
              <a:rPr lang="en-US" sz="1700" dirty="0" err="1"/>
              <a:t>áp</a:t>
            </a:r>
            <a:r>
              <a:rPr lang="en-US" sz="1700" dirty="0"/>
              <a:t> </a:t>
            </a:r>
            <a:r>
              <a:rPr lang="en-US" sz="1700" dirty="0" err="1"/>
              <a:t>dụng</a:t>
            </a:r>
            <a:r>
              <a:rPr lang="en-US" sz="1700" dirty="0"/>
              <a:t> </a:t>
            </a:r>
            <a:r>
              <a:rPr lang="en-US" sz="1700" dirty="0" err="1"/>
              <a:t>cho</a:t>
            </a:r>
            <a:r>
              <a:rPr lang="en-US" sz="1700" dirty="0"/>
              <a:t> </a:t>
            </a:r>
            <a:r>
              <a:rPr lang="en-US" sz="1700" dirty="0" err="1"/>
              <a:t>nhóm</a:t>
            </a:r>
            <a:r>
              <a:rPr lang="en-US" sz="1700" dirty="0"/>
              <a:t> </a:t>
            </a:r>
            <a:r>
              <a:rPr lang="en-US" sz="1700" dirty="0" err="1"/>
              <a:t>khu</a:t>
            </a:r>
            <a:r>
              <a:rPr lang="en-US" sz="1700" dirty="0"/>
              <a:t> </a:t>
            </a:r>
            <a:r>
              <a:rPr lang="en-US" sz="1700" dirty="0" err="1"/>
              <a:t>vực</a:t>
            </a:r>
            <a:r>
              <a:rPr lang="en-US" sz="1700" dirty="0"/>
              <a:t> </a:t>
            </a:r>
            <a:r>
              <a:rPr lang="en-US" sz="1700" dirty="0" err="1"/>
              <a:t>riêng</a:t>
            </a:r>
            <a:r>
              <a:rPr lang="en-US" sz="1700" dirty="0"/>
              <a:t> </a:t>
            </a:r>
            <a:r>
              <a:rPr lang="en-US" sz="1700" dirty="0" err="1"/>
              <a:t>biệt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Tỷ lệ tiếp cận nước sạch và nhà tiêu</a:t>
            </a:r>
          </a:p>
        </p:txBody>
      </p:sp>
      <p:pic>
        <p:nvPicPr>
          <p:cNvPr id="3" name="Picture 1" descr="slidephase4_files/figure-pptx/pie-charts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8000" y="1193800"/>
            <a:ext cx="8140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So sánh theo khu vực</a:t>
            </a:r>
          </a:p>
        </p:txBody>
      </p:sp>
      <p:pic>
        <p:nvPicPr>
          <p:cNvPr id="3" name="Picture 1" descr="slidephase4_files/figure-pptx/bar-charts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8000" y="1193800"/>
            <a:ext cx="8140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38929" y="219367"/>
            <a:ext cx="3623325" cy="973282"/>
          </a:xfrm>
        </p:spPr>
        <p:txBody>
          <a:bodyPr>
            <a:normAutofit/>
          </a:bodyPr>
          <a:lstStyle/>
          <a:p>
            <a:pPr algn="ctr"/>
            <a:r>
              <a:rPr lang="en-US" sz="1900" dirty="0" err="1"/>
              <a:t>Kiểm</a:t>
            </a:r>
            <a:r>
              <a:rPr lang="en-US" sz="1900" dirty="0"/>
              <a:t> </a:t>
            </a:r>
            <a:r>
              <a:rPr lang="en-US" sz="1900" dirty="0" err="1"/>
              <a:t>định</a:t>
            </a:r>
            <a:r>
              <a:rPr lang="en-US" sz="1900" dirty="0"/>
              <a:t> Chi-squared</a:t>
            </a:r>
            <a:br>
              <a:rPr lang="en-US" dirty="0"/>
            </a:br>
            <a:r>
              <a:rPr lang="vi-VN" dirty="0"/>
              <a:t>Mối liên hệ giữa Nước sạch và Tiêu chảy</a:t>
            </a:r>
            <a:br>
              <a:rPr lang="vi-VN" dirty="0"/>
            </a:br>
            <a:endParaRPr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0994944"/>
              </p:ext>
            </p:extLst>
          </p:nvPr>
        </p:nvGraphicFramePr>
        <p:xfrm>
          <a:off x="948854" y="1192649"/>
          <a:ext cx="7003473" cy="24984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44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44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44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2778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hh6_clean.safe_water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dirty="0"/>
                        <a:t>hh6_clean.any_diarrhea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dirty="0"/>
                        <a:t>Freq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4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dirty="0"/>
                        <a:t>190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4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3019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4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dirty="0"/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4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dirty="0"/>
                        <a:t>280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Content Placeholder 2"/>
          <p:cNvSpPr txBox="1">
            <a:spLocks/>
          </p:cNvSpPr>
          <p:nvPr/>
        </p:nvSpPr>
        <p:spPr>
          <a:xfrm>
            <a:off x="831272" y="3805392"/>
            <a:ext cx="8229600" cy="13715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14500" indent="-34290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003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432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861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vi-VN" sz="1700" b="1" dirty="0"/>
              <a:t>Kết quả:</a:t>
            </a:r>
            <a:r>
              <a:rPr lang="vi-VN" sz="1700" dirty="0"/>
              <a:t> X-squared = 6.181, p-value = 0.0129</a:t>
            </a:r>
          </a:p>
          <a:p>
            <a:pPr marL="0" indent="0">
              <a:buFont typeface="Arial"/>
              <a:buNone/>
            </a:pPr>
            <a:r>
              <a:rPr lang="vi-VN" sz="1700" b="1" dirty="0"/>
              <a:t>Kết luận:</a:t>
            </a:r>
            <a:r>
              <a:rPr lang="vi-VN" sz="1700" dirty="0"/>
              <a:t> p &lt; 0.05 → Có mối liên hệ có ý nghĩa thống kê giữa việc sử dụng nước sạch và tình trạng tiêu chảy ở trẻ em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08997"/>
            <a:ext cx="8229600" cy="352821"/>
          </a:xfrm>
        </p:spPr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dirty="0" err="1"/>
              <a:t>Hồi</a:t>
            </a:r>
            <a:r>
              <a:rPr dirty="0"/>
              <a:t> </a:t>
            </a:r>
            <a:r>
              <a:rPr dirty="0" err="1"/>
              <a:t>quy</a:t>
            </a:r>
            <a:r>
              <a:rPr dirty="0"/>
              <a:t> Logistic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3985961"/>
              </p:ext>
            </p:extLst>
          </p:nvPr>
        </p:nvGraphicFramePr>
        <p:xfrm>
          <a:off x="457198" y="551075"/>
          <a:ext cx="82296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8212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Biến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dirty="0" err="1"/>
                        <a:t>Hệ_số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P_value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212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(Intercept)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0.3178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0.045300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212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windex5_factorNhóm_2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1.3596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sz="13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 2e-16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212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windex5_factorNhóm_3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dirty="0"/>
                        <a:t>2.1294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3429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3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&lt; 2e-16</a:t>
                      </a:r>
                      <a:endParaRPr kumimoji="0" lang="en-US" sz="13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212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dirty="0"/>
                        <a:t>windex5_factorNhóm_4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dirty="0"/>
                        <a:t>2.5807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3429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3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&lt; 2e-16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8212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windex5_factorGiàu nhất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dirty="0"/>
                        <a:t>3.2778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sz="13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 2e-16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8212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dirty="0" err="1"/>
                        <a:t>helevel_factorTiểu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học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0.3137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dirty="0"/>
                        <a:t>0.000009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8212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helevel_factorTHCS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0.6568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sz="13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 2e-16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8212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helevel_factorTHPT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dirty="0"/>
                        <a:t>0.7745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sz="13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 2e-16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8212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helevel_factorTrung cấp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dirty="0"/>
                        <a:t>0.7878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dirty="0"/>
                        <a:t>0.000115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8212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helevel_factorCao đẳng/Đại học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0.8230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sz="13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 2e-16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8212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dirty="0" err="1"/>
                        <a:t>helevel_factorKhông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biết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0.0264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0.957086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8212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HH6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-0.1199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0.100921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8212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HC2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-0.0950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sz="13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 2e-16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4" name="Content Placeholder 2"/>
          <p:cNvSpPr txBox="1">
            <a:spLocks/>
          </p:cNvSpPr>
          <p:nvPr/>
        </p:nvSpPr>
        <p:spPr>
          <a:xfrm>
            <a:off x="457198" y="4711595"/>
            <a:ext cx="8229600" cy="3528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14500" indent="-34290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003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432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861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/>
              <a:buNone/>
            </a:pPr>
            <a:r>
              <a:rPr lang="en-US" sz="1700" b="1" dirty="0" err="1"/>
              <a:t>Kết</a:t>
            </a:r>
            <a:r>
              <a:rPr lang="en-US" sz="1700" b="1" dirty="0"/>
              <a:t> </a:t>
            </a:r>
            <a:r>
              <a:rPr lang="en-US" sz="1700" b="1" dirty="0" err="1"/>
              <a:t>luận</a:t>
            </a:r>
            <a:r>
              <a:rPr lang="en-US" sz="1700" b="1" dirty="0"/>
              <a:t>:</a:t>
            </a:r>
            <a:r>
              <a:rPr lang="en-US" sz="1700" dirty="0"/>
              <a:t> </a:t>
            </a:r>
            <a:r>
              <a:rPr lang="en-US" sz="1700" dirty="0" err="1"/>
              <a:t>Mức</a:t>
            </a:r>
            <a:r>
              <a:rPr lang="en-US" sz="1700" dirty="0"/>
              <a:t> </a:t>
            </a:r>
            <a:r>
              <a:rPr lang="en-US" sz="1700" dirty="0" err="1"/>
              <a:t>sống</a:t>
            </a:r>
            <a:r>
              <a:rPr lang="en-US" sz="1700" dirty="0"/>
              <a:t> </a:t>
            </a:r>
            <a:r>
              <a:rPr lang="en-US" sz="1700" dirty="0" err="1"/>
              <a:t>và</a:t>
            </a:r>
            <a:r>
              <a:rPr lang="en-US" sz="1700" dirty="0"/>
              <a:t> </a:t>
            </a:r>
            <a:r>
              <a:rPr lang="en-US" sz="1700" dirty="0" err="1"/>
              <a:t>học</a:t>
            </a:r>
            <a:r>
              <a:rPr lang="en-US" sz="1700" dirty="0"/>
              <a:t> </a:t>
            </a:r>
            <a:r>
              <a:rPr lang="en-US" sz="1700" dirty="0" err="1"/>
              <a:t>vấn</a:t>
            </a:r>
            <a:r>
              <a:rPr lang="en-US" sz="1700" dirty="0"/>
              <a:t> </a:t>
            </a:r>
            <a:r>
              <a:rPr lang="en-US" sz="1700" dirty="0" err="1"/>
              <a:t>là</a:t>
            </a:r>
            <a:r>
              <a:rPr lang="en-US" sz="1700" dirty="0"/>
              <a:t> </a:t>
            </a:r>
            <a:r>
              <a:rPr lang="en-US" sz="1700" dirty="0" err="1"/>
              <a:t>yếu</a:t>
            </a:r>
            <a:r>
              <a:rPr lang="en-US" sz="1700" dirty="0"/>
              <a:t> </a:t>
            </a:r>
            <a:r>
              <a:rPr lang="en-US" sz="1700" dirty="0" err="1"/>
              <a:t>tố</a:t>
            </a:r>
            <a:r>
              <a:rPr lang="en-US" sz="1700" dirty="0"/>
              <a:t> </a:t>
            </a:r>
            <a:r>
              <a:rPr lang="en-US" sz="1700" dirty="0" err="1"/>
              <a:t>tích</a:t>
            </a:r>
            <a:r>
              <a:rPr lang="en-US" sz="1700" dirty="0"/>
              <a:t> </a:t>
            </a:r>
            <a:r>
              <a:rPr lang="en-US" sz="1700" dirty="0" err="1"/>
              <a:t>cực</a:t>
            </a:r>
            <a:r>
              <a:rPr lang="en-US" sz="1700" dirty="0"/>
              <a:t> </a:t>
            </a:r>
            <a:r>
              <a:rPr lang="en-US" sz="1700" dirty="0" err="1"/>
              <a:t>mạnh</a:t>
            </a:r>
            <a:r>
              <a:rPr lang="en-US" sz="1700" dirty="0"/>
              <a:t> </a:t>
            </a:r>
            <a:r>
              <a:rPr lang="en-US" sz="1700" dirty="0" err="1"/>
              <a:t>mẽ</a:t>
            </a:r>
            <a:r>
              <a:rPr lang="en-US" sz="1700" dirty="0"/>
              <a:t>; </a:t>
            </a:r>
            <a:r>
              <a:rPr lang="en-US" sz="1700" dirty="0" err="1"/>
              <a:t>khu</a:t>
            </a:r>
            <a:r>
              <a:rPr lang="en-US" sz="1700" dirty="0"/>
              <a:t> </a:t>
            </a:r>
            <a:r>
              <a:rPr lang="en-US" sz="1700" dirty="0" err="1"/>
              <a:t>vực</a:t>
            </a:r>
            <a:r>
              <a:rPr lang="en-US" sz="1700" dirty="0"/>
              <a:t> </a:t>
            </a:r>
            <a:r>
              <a:rPr lang="en-US" sz="1700" dirty="0" err="1"/>
              <a:t>và</a:t>
            </a:r>
            <a:r>
              <a:rPr lang="en-US" sz="1700" dirty="0"/>
              <a:t> </a:t>
            </a:r>
            <a:r>
              <a:rPr lang="en-US" sz="1700" dirty="0" err="1"/>
              <a:t>dân</a:t>
            </a:r>
            <a:r>
              <a:rPr lang="en-US" sz="1700" dirty="0"/>
              <a:t> </a:t>
            </a:r>
            <a:r>
              <a:rPr lang="en-US" sz="1700" dirty="0" err="1"/>
              <a:t>tộc</a:t>
            </a:r>
            <a:r>
              <a:rPr lang="en-US" sz="1700" dirty="0"/>
              <a:t> </a:t>
            </a:r>
            <a:r>
              <a:rPr lang="en-US" sz="1700" dirty="0" err="1"/>
              <a:t>là</a:t>
            </a:r>
            <a:r>
              <a:rPr lang="en-US" sz="1700" dirty="0"/>
              <a:t> </a:t>
            </a:r>
            <a:r>
              <a:rPr lang="en-US" sz="1700" dirty="0" err="1"/>
              <a:t>rào</a:t>
            </a:r>
            <a:r>
              <a:rPr lang="en-US" sz="1700" dirty="0"/>
              <a:t> </a:t>
            </a:r>
            <a:r>
              <a:rPr lang="en-US" sz="1700" dirty="0" err="1"/>
              <a:t>cản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382839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dirty="0"/>
              <a:t>Xu </a:t>
            </a:r>
            <a:r>
              <a:rPr dirty="0" err="1"/>
              <a:t>hướng</a:t>
            </a:r>
            <a:r>
              <a:rPr dirty="0"/>
              <a:t> 2000-2021</a:t>
            </a:r>
          </a:p>
        </p:txBody>
      </p:sp>
      <p:pic>
        <p:nvPicPr>
          <p:cNvPr id="3" name="Picture 1" descr="slidephase4_files/figure-pptx/trend-plots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1650" y="665488"/>
            <a:ext cx="8140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F0104DA-2CAF-03D5-1460-054E2611EBB1}"/>
              </a:ext>
            </a:extLst>
          </p:cNvPr>
          <p:cNvSpPr txBox="1">
            <a:spLocks/>
          </p:cNvSpPr>
          <p:nvPr/>
        </p:nvSpPr>
        <p:spPr>
          <a:xfrm>
            <a:off x="457200" y="4056388"/>
            <a:ext cx="8686800" cy="8226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14500" indent="-34290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003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432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861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b="1" dirty="0" err="1"/>
              <a:t>Nhận</a:t>
            </a:r>
            <a:r>
              <a:rPr lang="en-US" sz="1700" b="1" dirty="0"/>
              <a:t> </a:t>
            </a:r>
            <a:r>
              <a:rPr lang="en-US" sz="1700" b="1" dirty="0" err="1"/>
              <a:t>xét</a:t>
            </a:r>
            <a:r>
              <a:rPr lang="en-US" sz="1700" b="1" dirty="0"/>
              <a:t>:</a:t>
            </a:r>
            <a:r>
              <a:rPr lang="en-US" sz="1700" dirty="0"/>
              <a:t> </a:t>
            </a:r>
            <a:r>
              <a:rPr lang="vi-VN" sz="1700" dirty="0"/>
              <a:t>năm 2013-2014 sụt giảm đột ngột nhưng sau đó phục hồi lại lên gần 100% vào năm 2021. </a:t>
            </a:r>
            <a:r>
              <a:rPr lang="vi-VN" sz="1700" b="1" dirty="0"/>
              <a:t>Lý do</a:t>
            </a:r>
            <a:r>
              <a:rPr lang="vi-VN" sz="1700" dirty="0"/>
              <a:t> là vì sự thay đổi trong </a:t>
            </a:r>
            <a:r>
              <a:rPr lang="vi-VN" sz="1700" dirty="0">
                <a:latin typeface="Arial (Body)"/>
              </a:rPr>
              <a:t>tiêu </a:t>
            </a:r>
            <a:r>
              <a:rPr lang="en-US" sz="1700" dirty="0" err="1">
                <a:latin typeface="Arial (Body)"/>
              </a:rPr>
              <a:t>chí</a:t>
            </a:r>
            <a:r>
              <a:rPr lang="en-US" sz="1700" dirty="0">
                <a:latin typeface="Arial (Body)"/>
              </a:rPr>
              <a:t> </a:t>
            </a:r>
            <a:r>
              <a:rPr lang="en-US" sz="1700" dirty="0" err="1">
                <a:latin typeface="Arial (Body)"/>
              </a:rPr>
              <a:t>đánh</a:t>
            </a:r>
            <a:r>
              <a:rPr lang="en-US" sz="1700" dirty="0">
                <a:latin typeface="Arial (Body)"/>
              </a:rPr>
              <a:t> </a:t>
            </a:r>
            <a:r>
              <a:rPr lang="en-US" sz="1700" dirty="0" err="1">
                <a:latin typeface="Arial (Body)"/>
              </a:rPr>
              <a:t>giá</a:t>
            </a:r>
            <a:r>
              <a:rPr lang="en-US" sz="1700" dirty="0">
                <a:latin typeface="Arial (Body)"/>
              </a:rPr>
              <a:t> </a:t>
            </a:r>
            <a:r>
              <a:rPr lang="vi-VN" sz="1700" dirty="0">
                <a:latin typeface="Arial (Body)"/>
              </a:rPr>
              <a:t>nguồn </a:t>
            </a:r>
            <a:r>
              <a:rPr lang="vi-VN" sz="1700" dirty="0"/>
              <a:t>nước sạch, không công nhận nước đóng chai phù hợp để uống.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Dự báo đến 2030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388394-FA97-8DD6-7A89-480C6DC77802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8027" y="854231"/>
            <a:ext cx="6767945" cy="408329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52112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dirty="0" err="1"/>
              <a:t>Nước</a:t>
            </a:r>
            <a:r>
              <a:rPr dirty="0"/>
              <a:t> </a:t>
            </a:r>
            <a:r>
              <a:rPr dirty="0" err="1"/>
              <a:t>sạch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Tiêu</a:t>
            </a:r>
            <a:r>
              <a:rPr dirty="0"/>
              <a:t> </a:t>
            </a:r>
            <a:r>
              <a:rPr dirty="0" err="1"/>
              <a:t>chảy</a:t>
            </a:r>
            <a:r>
              <a:rPr dirty="0"/>
              <a:t> (2000-2021)</a:t>
            </a:r>
          </a:p>
        </p:txBody>
      </p:sp>
      <p:pic>
        <p:nvPicPr>
          <p:cNvPr id="3" name="Picture 1" descr="slidephase4_files/figure-pptx/diarrhea-plot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746250" y="695036"/>
            <a:ext cx="56515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57200" y="3900055"/>
            <a:ext cx="8229600" cy="741218"/>
          </a:xfrm>
        </p:spPr>
        <p:txBody>
          <a:bodyPr>
            <a:normAutofit fontScale="92500" lnSpcReduction="20000"/>
          </a:bodyPr>
          <a:lstStyle/>
          <a:p>
            <a:pPr marL="0" lvl="0" indent="0">
              <a:buNone/>
            </a:pPr>
            <a:endParaRPr sz="1700" dirty="0"/>
          </a:p>
          <a:p>
            <a:pPr marL="0" lvl="0" indent="0">
              <a:buNone/>
            </a:pPr>
            <a:r>
              <a:rPr sz="1700" b="1" dirty="0" err="1"/>
              <a:t>Kết</a:t>
            </a:r>
            <a:r>
              <a:rPr sz="1700" b="1" dirty="0"/>
              <a:t> </a:t>
            </a:r>
            <a:r>
              <a:rPr sz="1700" b="1" dirty="0" err="1"/>
              <a:t>luận</a:t>
            </a:r>
            <a:r>
              <a:rPr sz="1700" b="1" dirty="0"/>
              <a:t>:</a:t>
            </a:r>
            <a:r>
              <a:rPr sz="1700" dirty="0"/>
              <a:t> </a:t>
            </a:r>
            <a:r>
              <a:rPr sz="1700" dirty="0" err="1"/>
              <a:t>Nước</a:t>
            </a:r>
            <a:r>
              <a:rPr sz="1700" dirty="0"/>
              <a:t> </a:t>
            </a:r>
            <a:r>
              <a:rPr sz="1700" dirty="0" err="1"/>
              <a:t>không</a:t>
            </a:r>
            <a:r>
              <a:rPr sz="1700" dirty="0"/>
              <a:t> </a:t>
            </a:r>
            <a:r>
              <a:rPr sz="1700" dirty="0" err="1"/>
              <a:t>sạch</a:t>
            </a:r>
            <a:r>
              <a:rPr sz="1700" dirty="0"/>
              <a:t> </a:t>
            </a:r>
            <a:r>
              <a:rPr sz="1700" dirty="0" err="1"/>
              <a:t>luôn</a:t>
            </a:r>
            <a:r>
              <a:rPr sz="1700" dirty="0"/>
              <a:t> </a:t>
            </a:r>
            <a:r>
              <a:rPr sz="1700" dirty="0" err="1"/>
              <a:t>có</a:t>
            </a:r>
            <a:r>
              <a:rPr sz="1700" dirty="0"/>
              <a:t> </a:t>
            </a:r>
            <a:r>
              <a:rPr sz="1700" dirty="0" err="1"/>
              <a:t>tỷ</a:t>
            </a:r>
            <a:r>
              <a:rPr sz="1700" dirty="0"/>
              <a:t> </a:t>
            </a:r>
            <a:r>
              <a:rPr sz="1700" dirty="0" err="1"/>
              <a:t>lệ</a:t>
            </a:r>
            <a:r>
              <a:rPr sz="1700" dirty="0"/>
              <a:t> </a:t>
            </a:r>
            <a:r>
              <a:rPr sz="1700" dirty="0" err="1"/>
              <a:t>tiêu</a:t>
            </a:r>
            <a:r>
              <a:rPr sz="1700" dirty="0"/>
              <a:t> </a:t>
            </a:r>
            <a:r>
              <a:rPr sz="1700" dirty="0" err="1"/>
              <a:t>chảy</a:t>
            </a:r>
            <a:r>
              <a:rPr sz="1700" dirty="0"/>
              <a:t> </a:t>
            </a:r>
            <a:r>
              <a:rPr sz="1700" dirty="0" err="1"/>
              <a:t>cao</a:t>
            </a:r>
            <a:r>
              <a:rPr sz="1700" dirty="0"/>
              <a:t> </a:t>
            </a:r>
            <a:r>
              <a:rPr sz="1700" dirty="0" err="1"/>
              <a:t>hơn</a:t>
            </a:r>
            <a:r>
              <a:rPr sz="1700" dirty="0"/>
              <a:t> </a:t>
            </a:r>
            <a:r>
              <a:rPr sz="1700" dirty="0" err="1"/>
              <a:t>đáng</a:t>
            </a:r>
            <a:r>
              <a:rPr sz="1700" dirty="0"/>
              <a:t> </a:t>
            </a:r>
            <a:r>
              <a:rPr sz="1700" dirty="0" err="1"/>
              <a:t>kể</a:t>
            </a:r>
            <a:r>
              <a:rPr sz="1700" dirty="0"/>
              <a:t> (</a:t>
            </a:r>
            <a:r>
              <a:rPr sz="1700" dirty="0" err="1"/>
              <a:t>đặc</a:t>
            </a:r>
            <a:r>
              <a:rPr sz="1700" dirty="0"/>
              <a:t> </a:t>
            </a:r>
            <a:r>
              <a:rPr sz="1700" dirty="0" err="1"/>
              <a:t>biệt</a:t>
            </a:r>
            <a:r>
              <a:rPr sz="1700" dirty="0"/>
              <a:t> </a:t>
            </a:r>
            <a:r>
              <a:rPr sz="1700" dirty="0" err="1"/>
              <a:t>năm</a:t>
            </a:r>
            <a:r>
              <a:rPr sz="1700" dirty="0"/>
              <a:t> 201</a:t>
            </a:r>
            <a:r>
              <a:rPr lang="en-US" sz="1700" dirty="0"/>
              <a:t>3-14</a:t>
            </a:r>
            <a:r>
              <a:rPr sz="1700" dirty="0"/>
              <a:t>). </a:t>
            </a:r>
            <a:r>
              <a:rPr sz="1700" dirty="0" err="1"/>
              <a:t>Sử</a:t>
            </a:r>
            <a:r>
              <a:rPr sz="1700" dirty="0"/>
              <a:t> </a:t>
            </a:r>
            <a:r>
              <a:rPr sz="1700" dirty="0" err="1"/>
              <a:t>dụng</a:t>
            </a:r>
            <a:r>
              <a:rPr sz="1700" dirty="0"/>
              <a:t> </a:t>
            </a:r>
            <a:r>
              <a:rPr sz="1700" dirty="0" err="1"/>
              <a:t>nước</a:t>
            </a:r>
            <a:r>
              <a:rPr sz="1700" dirty="0"/>
              <a:t> </a:t>
            </a:r>
            <a:r>
              <a:rPr sz="1700" dirty="0" err="1"/>
              <a:t>sạch</a:t>
            </a:r>
            <a:r>
              <a:rPr sz="1700" dirty="0"/>
              <a:t> </a:t>
            </a:r>
            <a:r>
              <a:rPr sz="1700" dirty="0" err="1"/>
              <a:t>giúp</a:t>
            </a:r>
            <a:r>
              <a:rPr sz="1700" dirty="0"/>
              <a:t> </a:t>
            </a:r>
            <a:r>
              <a:rPr sz="1700" dirty="0" err="1"/>
              <a:t>giảm</a:t>
            </a:r>
            <a:r>
              <a:rPr sz="1700" dirty="0"/>
              <a:t> </a:t>
            </a:r>
            <a:r>
              <a:rPr sz="1700" dirty="0" err="1"/>
              <a:t>nguy</a:t>
            </a:r>
            <a:r>
              <a:rPr sz="1700" dirty="0"/>
              <a:t> </a:t>
            </a:r>
            <a:r>
              <a:rPr sz="1700" dirty="0" err="1"/>
              <a:t>cơ</a:t>
            </a:r>
            <a:r>
              <a:rPr sz="1700" dirty="0"/>
              <a:t> </a:t>
            </a:r>
            <a:r>
              <a:rPr sz="1700" dirty="0" err="1"/>
              <a:t>tiêu</a:t>
            </a:r>
            <a:r>
              <a:rPr sz="1700" dirty="0"/>
              <a:t> </a:t>
            </a:r>
            <a:r>
              <a:rPr sz="1700" dirty="0" err="1"/>
              <a:t>chảy</a:t>
            </a:r>
            <a:r>
              <a:rPr sz="1700" dirty="0"/>
              <a:t> ở </a:t>
            </a:r>
            <a:r>
              <a:rPr sz="1700" dirty="0" err="1"/>
              <a:t>trẻ</a:t>
            </a:r>
            <a:r>
              <a:rPr sz="1700" dirty="0"/>
              <a:t> </a:t>
            </a:r>
            <a:r>
              <a:rPr sz="1700" dirty="0" err="1"/>
              <a:t>em</a:t>
            </a:r>
            <a:r>
              <a:rPr sz="1700" dirty="0"/>
              <a:t> </a:t>
            </a:r>
            <a:r>
              <a:rPr sz="1700" dirty="0" err="1"/>
              <a:t>một</a:t>
            </a:r>
            <a:r>
              <a:rPr sz="1700" dirty="0"/>
              <a:t> </a:t>
            </a:r>
            <a:r>
              <a:rPr sz="1700" dirty="0" err="1"/>
              <a:t>cách</a:t>
            </a:r>
            <a:r>
              <a:rPr sz="1700" dirty="0"/>
              <a:t> </a:t>
            </a:r>
            <a:r>
              <a:rPr sz="1700" dirty="0" err="1"/>
              <a:t>rõ</a:t>
            </a:r>
            <a:r>
              <a:rPr sz="1700" dirty="0"/>
              <a:t> </a:t>
            </a:r>
            <a:r>
              <a:rPr sz="1700" dirty="0" err="1"/>
              <a:t>rệt</a:t>
            </a:r>
            <a:r>
              <a:rPr sz="1700"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549</Words>
  <Application>Microsoft Office PowerPoint</Application>
  <PresentationFormat>On-screen Show (16:9)</PresentationFormat>
  <Paragraphs>117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Arial (Body)</vt:lpstr>
      <vt:lpstr>Calibri</vt:lpstr>
      <vt:lpstr>Courier</vt:lpstr>
      <vt:lpstr>Office Theme</vt:lpstr>
      <vt:lpstr>Môi Trường Sống và Sức Khỏe Hộ Gia Đình</vt:lpstr>
      <vt:lpstr>Thông tin nghiên cứu</vt:lpstr>
      <vt:lpstr>Tỷ lệ dữ liệu thiếu</vt:lpstr>
      <vt:lpstr>Tỷ lệ tiếp cận nước sạch và nhà tiêu</vt:lpstr>
      <vt:lpstr>So sánh theo khu vực</vt:lpstr>
      <vt:lpstr>Kiểm định Chi-squared Mối liên hệ giữa Nước sạch và Tiêu chảy </vt:lpstr>
      <vt:lpstr>Hồi quy Logistic</vt:lpstr>
      <vt:lpstr>Xu hướng 2000-2021</vt:lpstr>
      <vt:lpstr>Dự báo đến 2030</vt:lpstr>
      <vt:lpstr>Nước sạch và Tiêu chảy (2000-2021)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Môi Trường Sống và Sức Khỏe Hộ Gia Đình</dc:title>
  <dc:creator>Phân tích dữ liệu MICS 2000-2021</dc:creator>
  <cp:keywords/>
  <cp:lastModifiedBy>Hải Trần</cp:lastModifiedBy>
  <cp:revision>2</cp:revision>
  <dcterms:created xsi:type="dcterms:W3CDTF">2025-10-19T11:05:03Z</dcterms:created>
  <dcterms:modified xsi:type="dcterms:W3CDTF">2025-10-20T02:21:45Z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2025-10-19</vt:lpwstr>
  </property>
  <property fmtid="{D5CDD505-2E9C-101B-9397-08002B2CF9AE}" pid="3" name="output">
    <vt:lpwstr/>
  </property>
  <property fmtid="{D5CDD505-2E9C-101B-9397-08002B2CF9AE}" pid="4" name="subtitle">
    <vt:lpwstr>Nhóm 5</vt:lpwstr>
  </property>
</Properties>
</file>